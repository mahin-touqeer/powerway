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Italics" charset="1" panose="00000500000000000000"/>
      <p:regular r:id="rId16"/>
    </p:embeddedFont>
    <p:embeddedFont>
      <p:font typeface="Times New Roman" charset="1" panose="02020603050405020304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10804" y="-4010804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57207" y="6255704"/>
            <a:ext cx="6973585" cy="771243"/>
            <a:chOff x="0" y="0"/>
            <a:chExt cx="1395472" cy="1543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5472" cy="154332"/>
            </a:xfrm>
            <a:custGeom>
              <a:avLst/>
              <a:gdLst/>
              <a:ahLst/>
              <a:cxnLst/>
              <a:rect r="r" b="b" t="t" l="l"/>
              <a:pathLst>
                <a:path h="154332" w="1395472">
                  <a:moveTo>
                    <a:pt x="56619" y="0"/>
                  </a:moveTo>
                  <a:lnTo>
                    <a:pt x="1338853" y="0"/>
                  </a:lnTo>
                  <a:cubicBezTo>
                    <a:pt x="1370123" y="0"/>
                    <a:pt x="1395472" y="25349"/>
                    <a:pt x="1395472" y="56619"/>
                  </a:cubicBezTo>
                  <a:lnTo>
                    <a:pt x="1395472" y="97713"/>
                  </a:lnTo>
                  <a:cubicBezTo>
                    <a:pt x="1395472" y="128983"/>
                    <a:pt x="1370123" y="154332"/>
                    <a:pt x="1338853" y="154332"/>
                  </a:cubicBezTo>
                  <a:lnTo>
                    <a:pt x="56619" y="154332"/>
                  </a:lnTo>
                  <a:cubicBezTo>
                    <a:pt x="25349" y="154332"/>
                    <a:pt x="0" y="128983"/>
                    <a:pt x="0" y="97713"/>
                  </a:cubicBezTo>
                  <a:lnTo>
                    <a:pt x="0" y="56619"/>
                  </a:lnTo>
                  <a:cubicBezTo>
                    <a:pt x="0" y="25349"/>
                    <a:pt x="25349" y="0"/>
                    <a:pt x="566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FFFFFF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95472" cy="2019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388036" y="3012404"/>
            <a:ext cx="5511928" cy="177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29"/>
              </a:lnSpc>
              <a:spcBef>
                <a:spcPct val="0"/>
              </a:spcBef>
            </a:pPr>
            <a:r>
              <a:rPr lang="en-US" sz="9806" spc="-8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Watt 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17938" y="6242862"/>
            <a:ext cx="3852125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Agglomeration 2.0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00579" y="4857264"/>
            <a:ext cx="8886841" cy="108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10"/>
              </a:lnSpc>
              <a:spcBef>
                <a:spcPct val="0"/>
              </a:spcBef>
            </a:pPr>
            <a:r>
              <a:rPr lang="en-US" sz="60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</a:t>
            </a:r>
            <a:r>
              <a:rPr lang="en-US" sz="6007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</a:t>
            </a:r>
            <a:r>
              <a:rPr lang="en-US" sz="60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6007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pip not installed</a:t>
            </a:r>
            <a:r>
              <a:rPr lang="en-US" sz="60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765020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2"/>
                </a:lnTo>
                <a:lnTo>
                  <a:pt x="0" y="1218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795180" y="-4205820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419" y="278050"/>
            <a:ext cx="14716754" cy="238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9"/>
              </a:lnSpc>
            </a:pPr>
            <a:r>
              <a:rPr lang="en-US" b="true" sz="5233" spc="-2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AI-Based Electricity Load &amp; Renewable Energy Forecasting Platform</a:t>
            </a:r>
          </a:p>
          <a:p>
            <a:pPr algn="ctr">
              <a:lnSpc>
                <a:spcPts val="627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30377" y="3558499"/>
            <a:ext cx="15850206" cy="285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2"/>
              </a:lnSpc>
            </a:pPr>
            <a:r>
              <a:rPr lang="en-US" b="true" sz="4685" spc="-1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 2 — Apparent Energy Solution Pvt. Ltd</a:t>
            </a:r>
          </a:p>
          <a:p>
            <a:pPr algn="ctr">
              <a:lnSpc>
                <a:spcPts val="5622"/>
              </a:lnSpc>
            </a:pPr>
          </a:p>
          <a:p>
            <a:pPr algn="ctr">
              <a:lnSpc>
                <a:spcPts val="5622"/>
              </a:lnSpc>
            </a:pPr>
            <a:r>
              <a:rPr lang="en-US" b="true" sz="4685" spc="-1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Built in:</a:t>
            </a:r>
            <a:r>
              <a:rPr lang="en-US" sz="4685" spc="-1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15 hours 30 minutes</a:t>
            </a:r>
          </a:p>
          <a:p>
            <a:pPr algn="ctr">
              <a:lnSpc>
                <a:spcPts val="5622"/>
              </a:lnSpc>
              <a:spcBef>
                <a:spcPct val="0"/>
              </a:spcBef>
            </a:pPr>
            <a:r>
              <a:rPr lang="en-US" b="true" sz="4685" spc="-1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Focus:</a:t>
            </a:r>
            <a:r>
              <a:rPr lang="en-US" sz="4685" spc="-1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4685" spc="-1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5/15 minute forecasting + scalable deployment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10804" y="-4010804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01412" y="359817"/>
            <a:ext cx="13689012" cy="1006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Assumptions &amp; Inferences (Reality-first Dataset Strategy)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Content (Polished + 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Your Points Included)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Finding datasets was the hardest part of this PS because the problem is niche, and good public grid datasets are rare.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We deliberately avoided synthetic datasets because: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oversimplify forecasting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don’t represent real-world noise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inflate accuracy artificially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fail in actual grid deployment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Assumptions We Made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A) Renewable Generation Forecasting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Generation and load location need not be the same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Renewable output depends more on: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Asset metadata: max capacity, availability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Geography &amp; weather: temperature, humidity, wind, rainfall, irradiance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This makes the model scalable to new assets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B) Load Forecasting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Load is harder because it depends on: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Weather + geography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Location behavior + economic activity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GDP of region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Electricity cost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Per-capita energy usage</a:t>
            </a:r>
          </a:p>
          <a:p>
            <a:pPr algn="ctr" marL="863601" indent="-287867" lvl="2">
              <a:lnSpc>
                <a:spcPts val="24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Population/industry density (proxy)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We chose a dataset that approximates “location behavior” using these indicators.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Since the location variables are inputs, the model can generalize to other regions too.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Scope Decision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Scraping real-time grid feeds was out of scope because: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Hackathon time = 15h 30m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Scraping would consume half the build time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 efficient for a prototype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So we picked the best realistic public datasets instead.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054708" y="-4010804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553" y="553672"/>
            <a:ext cx="13849966" cy="121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6"/>
              </a:lnSpc>
              <a:spcBef>
                <a:spcPct val="0"/>
              </a:spcBef>
            </a:pPr>
            <a:r>
              <a:rPr lang="en-US" sz="3988" spc="-1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Problem C</a:t>
            </a:r>
            <a:r>
              <a:rPr lang="en-US" sz="3988" spc="-1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ontext + Why Forecasting Matters + What We Built</a:t>
            </a:r>
          </a:p>
          <a:p>
            <a:pPr algn="ctr">
              <a:lnSpc>
                <a:spcPts val="478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3905" y="1807714"/>
            <a:ext cx="13666028" cy="315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7"/>
              </a:lnSpc>
              <a:spcBef>
                <a:spcPct val="0"/>
              </a:spcBef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Uninterr</a:t>
            </a: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upted electricity supply is essential for:</a:t>
            </a:r>
          </a:p>
          <a:p>
            <a:pPr algn="ctr" marL="496057" indent="-248029" lvl="1">
              <a:lnSpc>
                <a:spcPts val="2757"/>
              </a:lnSpc>
              <a:spcBef>
                <a:spcPct val="0"/>
              </a:spcBef>
              <a:buFont typeface="Arial"/>
              <a:buChar char="•"/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Households</a:t>
            </a:r>
          </a:p>
          <a:p>
            <a:pPr algn="ctr" marL="496057" indent="-248029" lvl="1">
              <a:lnSpc>
                <a:spcPts val="2757"/>
              </a:lnSpc>
              <a:spcBef>
                <a:spcPct val="0"/>
              </a:spcBef>
              <a:buFont typeface="Arial"/>
              <a:buChar char="•"/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Industries</a:t>
            </a:r>
          </a:p>
          <a:p>
            <a:pPr algn="ctr" marL="496057" indent="-248029" lvl="1">
              <a:lnSpc>
                <a:spcPts val="2757"/>
              </a:lnSpc>
              <a:spcBef>
                <a:spcPct val="0"/>
              </a:spcBef>
              <a:buFont typeface="Arial"/>
              <a:buChar char="•"/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Economic growth</a:t>
            </a:r>
          </a:p>
          <a:p>
            <a:pPr algn="ctr" marL="496057" indent="-248029" lvl="1">
              <a:lnSpc>
                <a:spcPts val="2757"/>
              </a:lnSpc>
              <a:spcBef>
                <a:spcPct val="0"/>
              </a:spcBef>
              <a:buFont typeface="Arial"/>
              <a:buChar char="•"/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mau</a:t>
            </a:r>
          </a:p>
          <a:p>
            <a:pPr algn="ctr">
              <a:lnSpc>
                <a:spcPts val="2757"/>
              </a:lnSpc>
              <a:spcBef>
                <a:spcPct val="0"/>
              </a:spcBef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Grid operators (National/State/Sub-State LDCs) must constantly balance:</a:t>
            </a:r>
          </a:p>
          <a:p>
            <a:pPr algn="ctr" marL="496057" indent="-248029" lvl="1">
              <a:lnSpc>
                <a:spcPts val="2757"/>
              </a:lnSpc>
              <a:spcBef>
                <a:spcPct val="0"/>
              </a:spcBef>
              <a:buFont typeface="Arial"/>
              <a:buChar char="•"/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Demand (Load)</a:t>
            </a:r>
          </a:p>
          <a:p>
            <a:pPr algn="ctr">
              <a:lnSpc>
                <a:spcPts val="2757"/>
              </a:lnSpc>
              <a:spcBef>
                <a:spcPct val="0"/>
              </a:spcBef>
            </a:pPr>
            <a:r>
              <a:rPr lang="en-US" sz="2297" spc="-9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Supply (Generation)</a:t>
            </a:r>
          </a:p>
          <a:p>
            <a:pPr algn="ctr">
              <a:lnSpc>
                <a:spcPts val="2757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493192" y="4997232"/>
            <a:ext cx="5256371" cy="106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sz="3497" spc="-1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Why</a:t>
            </a:r>
            <a:r>
              <a:rPr lang="en-US" sz="3497" spc="-1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Forecasting is Critical</a:t>
            </a:r>
          </a:p>
          <a:p>
            <a:pPr algn="ctr">
              <a:lnSpc>
                <a:spcPts val="4197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4763427" y="5812237"/>
            <a:ext cx="6733199" cy="447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3"/>
              </a:lnSpc>
              <a:spcBef>
                <a:spcPct val="0"/>
              </a:spcBef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Accurate f</a:t>
            </a: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orecasting enables: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Real-time grid balancing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Energy procurement planning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Contract finalization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Transmission &amp; infrastructure planning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mau</a:t>
            </a:r>
          </a:p>
          <a:p>
            <a:pPr algn="ctr">
              <a:lnSpc>
                <a:spcPts val="3203"/>
              </a:lnSpc>
              <a:spcBef>
                <a:spcPct val="0"/>
              </a:spcBef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Forecast errors cause: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Deviation penalties</a:t>
            </a:r>
          </a:p>
          <a:p>
            <a:pPr algn="ctr" marL="576296" indent="-288148" lvl="1">
              <a:lnSpc>
                <a:spcPts val="3203"/>
              </a:lnSpc>
              <a:spcBef>
                <a:spcPct val="0"/>
              </a:spcBef>
              <a:buFont typeface="Arial"/>
              <a:buChar char="•"/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Financial losses (DISCOMs + generators)</a:t>
            </a:r>
          </a:p>
          <a:p>
            <a:pPr algn="ctr">
              <a:lnSpc>
                <a:spcPts val="3203"/>
              </a:lnSpc>
              <a:spcBef>
                <a:spcPct val="0"/>
              </a:spcBef>
            </a:pPr>
            <a:r>
              <a:rPr lang="en-US" sz="2669" spc="-1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Operational instability for grid operators</a:t>
            </a:r>
          </a:p>
          <a:p>
            <a:pPr algn="ctr">
              <a:lnSpc>
                <a:spcPts val="3203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949719" y="3826823"/>
            <a:ext cx="3928430" cy="85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3"/>
              </a:lnSpc>
              <a:spcBef>
                <a:spcPct val="0"/>
              </a:spcBef>
            </a:pPr>
            <a:r>
              <a:rPr lang="en-US" sz="2760" spc="-1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60" spc="-11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ur Hackathon Objective</a:t>
            </a:r>
          </a:p>
          <a:p>
            <a:pPr algn="ctr">
              <a:lnSpc>
                <a:spcPts val="3313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769482" y="5468328"/>
            <a:ext cx="5914072" cy="68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5"/>
              </a:lnSpc>
              <a:spcBef>
                <a:spcPct val="0"/>
              </a:spcBef>
            </a:pPr>
            <a:r>
              <a:rPr lang="en-US" sz="1504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designed a cost-</a:t>
            </a:r>
            <a:r>
              <a:rPr lang="en-US" sz="1504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optimized AI forecasting platform that generates:</a:t>
            </a:r>
          </a:p>
          <a:p>
            <a:pPr algn="ctr">
              <a:lnSpc>
                <a:spcPts val="1805"/>
              </a:lnSpc>
              <a:spcBef>
                <a:spcPct val="0"/>
              </a:spcBef>
            </a:pPr>
            <a:r>
              <a:rPr lang="en-US" sz="1504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Load Forecasts</a:t>
            </a:r>
          </a:p>
          <a:p>
            <a:pPr algn="ctr">
              <a:lnSpc>
                <a:spcPts val="1805"/>
              </a:lnSpc>
              <a:spcBef>
                <a:spcPct val="0"/>
              </a:spcBef>
            </a:pPr>
            <a:r>
              <a:rPr lang="en-US" sz="1504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Renewable Energy Generation Forecasts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3795180" y="-4108312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80366" y="910607"/>
            <a:ext cx="6291260" cy="55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  <a:spcBef>
                <a:spcPct val="0"/>
              </a:spcBef>
            </a:pPr>
            <a:r>
              <a:rPr lang="en-US" sz="3636" spc="-14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Assumpti</a:t>
            </a:r>
            <a:r>
              <a:rPr lang="en-US" sz="3636" spc="-14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ons &amp; Inference Slide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23608" y="2412179"/>
            <a:ext cx="10375217" cy="715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"/>
              </a:lnSpc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Finding datasets was the hardest part of this PS because the problem is niche, and good public grid datasets are rare.</a:t>
            </a:r>
          </a:p>
          <a:p>
            <a:pPr algn="ctr">
              <a:lnSpc>
                <a:spcPts val="1877"/>
              </a:lnSpc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We deliberately avoided synthetic datasets because:</a:t>
            </a:r>
          </a:p>
          <a:p>
            <a:pPr algn="ctr" marL="337834" indent="-168917" lvl="1">
              <a:lnSpc>
                <a:spcPts val="1877"/>
              </a:lnSpc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They oversimplify forecasting</a:t>
            </a:r>
          </a:p>
          <a:p>
            <a:pPr algn="ctr" marL="337834" indent="-168917" lvl="1">
              <a:lnSpc>
                <a:spcPts val="1877"/>
              </a:lnSpc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They don’t represent real-world noise</a:t>
            </a:r>
          </a:p>
          <a:p>
            <a:pPr algn="ctr" marL="337834" indent="-168917" lvl="1">
              <a:lnSpc>
                <a:spcPts val="1877"/>
              </a:lnSpc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They inflate accuracy artificially</a:t>
            </a:r>
          </a:p>
          <a:p>
            <a:pPr algn="ctr" marL="337834" indent="-168917" lvl="1">
              <a:lnSpc>
                <a:spcPts val="1877"/>
              </a:lnSpc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They fail in actual grid deployment</a:t>
            </a:r>
          </a:p>
          <a:p>
            <a:pPr algn="ctr">
              <a:lnSpc>
                <a:spcPts val="1877"/>
              </a:lnSpc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Key Assumptions We Made</a:t>
            </a:r>
          </a:p>
          <a:p>
            <a:pPr algn="ctr">
              <a:lnSpc>
                <a:spcPts val="1877"/>
              </a:lnSpc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A) Renewable Generation Forecasting</a:t>
            </a:r>
          </a:p>
          <a:p>
            <a:pPr algn="ctr" marL="337834" indent="-168917" lvl="1">
              <a:lnSpc>
                <a:spcPts val="1877"/>
              </a:lnSpc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Generation and load location need not be the same</a:t>
            </a:r>
          </a:p>
          <a:p>
            <a:pPr algn="ctr" marL="337834" indent="-168917" lvl="1">
              <a:lnSpc>
                <a:spcPts val="1877"/>
              </a:lnSpc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Renewable output depends more on:</a:t>
            </a:r>
          </a:p>
          <a:p>
            <a:pPr algn="ctr" marL="675668" indent="-225223" lvl="2">
              <a:lnSpc>
                <a:spcPts val="1877"/>
              </a:lnSpc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Asset metadata: max capacity, availability</a:t>
            </a:r>
          </a:p>
          <a:p>
            <a:pPr algn="ctr" marL="675668" indent="-225223" lvl="2">
              <a:lnSpc>
                <a:spcPts val="1877"/>
              </a:lnSpc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Geography &amp; weather: temperature, humidity, wind, rainfall, irradiance</a:t>
            </a:r>
          </a:p>
          <a:p>
            <a:pPr algn="ctr" marL="675668" indent="-225223" lvl="2">
              <a:lnSpc>
                <a:spcPts val="1877"/>
              </a:lnSpc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This makes the model scalable to new assets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B) L</a:t>
            </a: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oad Forecasting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Load is harder because it depends on:</a:t>
            </a:r>
          </a:p>
          <a:p>
            <a:pPr algn="ctr" marL="337834" indent="-168917" lvl="1">
              <a:lnSpc>
                <a:spcPts val="1877"/>
              </a:lnSpc>
              <a:spcBef>
                <a:spcPct val="0"/>
              </a:spcBef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Weather + geography</a:t>
            </a:r>
          </a:p>
          <a:p>
            <a:pPr algn="ctr" marL="337834" indent="-168917" lvl="1">
              <a:lnSpc>
                <a:spcPts val="1877"/>
              </a:lnSpc>
              <a:spcBef>
                <a:spcPct val="0"/>
              </a:spcBef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Location behavior + economic activity</a:t>
            </a:r>
          </a:p>
          <a:p>
            <a:pPr algn="ctr" marL="675668" indent="-225223" lvl="2">
              <a:lnSpc>
                <a:spcPts val="1877"/>
              </a:lnSpc>
              <a:spcBef>
                <a:spcPct val="0"/>
              </a:spcBef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GDP of region</a:t>
            </a:r>
          </a:p>
          <a:p>
            <a:pPr algn="ctr" marL="675668" indent="-225223" lvl="2">
              <a:lnSpc>
                <a:spcPts val="1877"/>
              </a:lnSpc>
              <a:spcBef>
                <a:spcPct val="0"/>
              </a:spcBef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Electricity cost</a:t>
            </a:r>
          </a:p>
          <a:p>
            <a:pPr algn="ctr" marL="675668" indent="-225223" lvl="2">
              <a:lnSpc>
                <a:spcPts val="1877"/>
              </a:lnSpc>
              <a:spcBef>
                <a:spcPct val="0"/>
              </a:spcBef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Per-capita energy usage</a:t>
            </a:r>
          </a:p>
          <a:p>
            <a:pPr algn="ctr" marL="675668" indent="-225223" lvl="2">
              <a:lnSpc>
                <a:spcPts val="1877"/>
              </a:lnSpc>
              <a:spcBef>
                <a:spcPct val="0"/>
              </a:spcBef>
              <a:buFont typeface="Arial"/>
              <a:buChar char="⚬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Population/industry density (proxy)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We chose a dataset that approximates “location behavior” using these indicators.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Since the location variables are inputs, the model can generalize to other regions too.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Scope Decision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Scraping real-time grid feeds was out of scope because:</a:t>
            </a:r>
          </a:p>
          <a:p>
            <a:pPr algn="ctr" marL="337834" indent="-168917" lvl="1">
              <a:lnSpc>
                <a:spcPts val="1877"/>
              </a:lnSpc>
              <a:spcBef>
                <a:spcPct val="0"/>
              </a:spcBef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Hackathon time = 15h 30m</a:t>
            </a:r>
          </a:p>
          <a:p>
            <a:pPr algn="ctr" marL="337834" indent="-168917" lvl="1">
              <a:lnSpc>
                <a:spcPts val="1877"/>
              </a:lnSpc>
              <a:spcBef>
                <a:spcPct val="0"/>
              </a:spcBef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Scraping would consume half the build time</a:t>
            </a:r>
          </a:p>
          <a:p>
            <a:pPr algn="ctr" marL="337834" indent="-168917" lvl="1">
              <a:lnSpc>
                <a:spcPts val="1877"/>
              </a:lnSpc>
              <a:spcBef>
                <a:spcPct val="0"/>
              </a:spcBef>
              <a:buFont typeface="Arial"/>
              <a:buChar char="•"/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Not efficient for a prototype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 spc="-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So we picked the best realistic public datasets instead.</a:t>
            </a:r>
          </a:p>
          <a:p>
            <a:pPr algn="ctr">
              <a:lnSpc>
                <a:spcPts val="18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124743" y="-4205820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3339" y="378867"/>
            <a:ext cx="6228189" cy="56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Dataset f</a:t>
            </a: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 Load Forecasting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08932" y="1694464"/>
            <a:ext cx="5503218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Sri Lanka National Grid Load Forecasting Dataset</a:t>
            </a:r>
          </a:p>
          <a:p>
            <a:pPr algn="ctr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 Range: Jan 2020 → May 2025</a:t>
            </a:r>
          </a:p>
          <a:p>
            <a:pPr algn="ctr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Records: 189,888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olution: 15-minute intervals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Target: Load Demand (kW)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Why it’s perfect for this PS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Real-world load behavior across: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Weather variations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Seasons + weekdays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Public event spikes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Economic influence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Features Used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Timestamp (15-min)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Load demand (kW)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Temperature, Humidity, Wind, Rainfall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Solar irradiance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GDP (economic activity proxy)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Per-capita energy usage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Electricity price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Day, hour, month, season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Public event flag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Matches mandatory requirement: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15-minute forecast output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124743" y="-4205820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378867"/>
            <a:ext cx="15614867" cy="230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✅ SLIDE 11 —</a:t>
            </a: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Load Feature Engineering (Temporal Intelligence) ✅(ANURAG)</a:t>
            </a:r>
          </a:p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</a:t>
            </a:r>
          </a:p>
          <a:p>
            <a:pPr algn="ctr">
              <a:lnSpc>
                <a:spcPts val="4561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53312" y="1694464"/>
            <a:ext cx="12814459" cy="1250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Feature Engineering for Load: Temporal + Behavioral Intelligence</a:t>
            </a:r>
          </a:p>
          <a:p>
            <a:pPr algn="ctr">
              <a:lnSpc>
                <a:spcPts val="2400"/>
              </a:lnSpc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Slide Content</a:t>
            </a:r>
          </a:p>
          <a:p>
            <a:pPr algn="ctr">
              <a:lnSpc>
                <a:spcPts val="2400"/>
              </a:lnSpc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✅ 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Time-Series + Calendar Learning</a:t>
            </a:r>
          </a:p>
          <a:p>
            <a:pPr algn="ctr">
              <a:lnSpc>
                <a:spcPts val="2400"/>
              </a:lnSpc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engineered features that capture real grid behavior:</a:t>
            </a:r>
          </a:p>
          <a:p>
            <a:pPr algn="ctr">
              <a:lnSpc>
                <a:spcPts val="2400"/>
              </a:lnSpc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emporal Signals</a:t>
            </a:r>
          </a:p>
          <a:p>
            <a:pPr algn="ctr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Hour of day</a:t>
            </a:r>
          </a:p>
          <a:p>
            <a:pPr algn="ctr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Day of w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eek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onth / Season encoding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Weekend vs working-day flag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Behavioral Memory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ag features (t-15, t-30, t-60)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Rolling mean &amp; rolling std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Trend direction (ramp up/down)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Event Effects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Public event indicator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Holiday-like behavior simulation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mau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✅ Why this matters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These features help detect: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Peak demand hours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sudden ramps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weekday vs weekend shift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seasonal load variations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✅ What to Speak (Long Script)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“This slid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 is about how we made the load model smart without overcomplicating the system.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PS explicitly mentions that load must change with: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eather, time of day, weekday/weekend, seasons and holidays.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 our feature engineering directly targets these aspects.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extracted time-based signals like hour, weekday, month and season.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also created working-day vs weekend indicators because demand profiles change drastically.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Then w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 introduced behavioral memory: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because load has inertia.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previous 15-minute load influences the next 15 minutes.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 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lag features like t-15, t-30, and t-60 give the model context.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Rolling me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 and rolling standard deviation capture local stability and volatility.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Finally, we also incorporate public events because real grids show spikes when special days occur.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 this isn’t just a model trained on columns — this is a forecasting pipeline that understands electricity behavior.”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124743" y="-4205820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378867"/>
            <a:ext cx="15614867" cy="230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✅ SLIDE 10 —</a:t>
            </a: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Novel Load Forecasting Strategy (Hybrid Real-Time + Economic Awareness) (ANURAG)</a:t>
            </a:r>
          </a:p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</a:t>
            </a:r>
          </a:p>
          <a:p>
            <a:pPr algn="ctr">
              <a:lnSpc>
                <a:spcPts val="4561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1694464"/>
            <a:ext cx="14121082" cy="1189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Load Forecasting: Hybrid Intelligence (Weather + Economics + Behavior Memory)</a:t>
            </a:r>
          </a:p>
          <a:p>
            <a:pPr algn="ctr">
              <a:lnSpc>
                <a:spcPts val="2400"/>
              </a:lnSpc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Content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Pr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oposed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Load F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orecasting System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forecast grid demand using: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 weather + environmental factors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onomic proxies (GDP, price, per-capita usage) ✅ bonus feature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Public event indicator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Historical load behavior patterns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Time-series intelligence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Model Choice: XGBoost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hy XGBoost?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Handles mixed feature types well (time + numeric + economic)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Learns non-linear relationships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Fast inf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erence → deployable system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Outputs Supported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15-min ahead forecast (mandatory)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scalable extension to day-ahead forecasting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mau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What to Speak (Long Script)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“Now for load for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ecasting, the challenge is very different from renewables.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Load is not driven purely by weather.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Yes, temperature and humidity matter because air-conditioning load changes.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But load also depends on human and economic behavior: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industries running, population lifestyle, electricity pricing, and economic activity.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That’s why we propose a hybrid intelligent load forecasting system.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combines: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environmental conditions,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economic indicators like GDP, per-capita usage and electricity price,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and tim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e-s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eries behavior memory.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Now why XGBoost for load?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Because load forecasting has structured, engineered features.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r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equires fast inference and strong non-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line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 learning.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XGBoost becomes highly accurate and lightweight—so it fits the cost-optimized expectation.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mainly output 15-minute forecasts which is mandatory in the problem statement, and we can extend to day-ahead forecasts as a sample.”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F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97927"/>
            <a:ext cx="18288000" cy="12183762"/>
          </a:xfrm>
          <a:custGeom>
            <a:avLst/>
            <a:gdLst/>
            <a:ahLst/>
            <a:cxnLst/>
            <a:rect r="r" b="b" t="t" l="l"/>
            <a:pathLst>
              <a:path h="12183762" w="18288000">
                <a:moveTo>
                  <a:pt x="0" y="0"/>
                </a:moveTo>
                <a:lnTo>
                  <a:pt x="18288000" y="0"/>
                </a:lnTo>
                <a:lnTo>
                  <a:pt x="18288000" y="12183763"/>
                </a:lnTo>
                <a:lnTo>
                  <a:pt x="0" y="12183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124743" y="-4205820"/>
            <a:ext cx="10482017" cy="18503624"/>
            <a:chOff x="0" y="0"/>
            <a:chExt cx="2760696" cy="48733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696" cy="4873382"/>
            </a:xfrm>
            <a:custGeom>
              <a:avLst/>
              <a:gdLst/>
              <a:ahLst/>
              <a:cxnLst/>
              <a:rect r="r" b="b" t="t" l="l"/>
              <a:pathLst>
                <a:path h="4873382" w="2760696">
                  <a:moveTo>
                    <a:pt x="0" y="0"/>
                  </a:moveTo>
                  <a:lnTo>
                    <a:pt x="2760696" y="0"/>
                  </a:lnTo>
                  <a:lnTo>
                    <a:pt x="2760696" y="4873382"/>
                  </a:lnTo>
                  <a:lnTo>
                    <a:pt x="0" y="4873382"/>
                  </a:lnTo>
                  <a:close/>
                </a:path>
              </a:pathLst>
            </a:custGeom>
            <a:solidFill>
              <a:srgbClr val="000000">
                <a:alpha val="6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60696" cy="492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11026" y="369342"/>
            <a:ext cx="1934245" cy="2190922"/>
          </a:xfrm>
          <a:custGeom>
            <a:avLst/>
            <a:gdLst/>
            <a:ahLst/>
            <a:cxnLst/>
            <a:rect r="r" b="b" t="t" l="l"/>
            <a:pathLst>
              <a:path h="2190922" w="1934245">
                <a:moveTo>
                  <a:pt x="0" y="0"/>
                </a:moveTo>
                <a:lnTo>
                  <a:pt x="1934245" y="0"/>
                </a:lnTo>
                <a:lnTo>
                  <a:pt x="1934245" y="2190922"/>
                </a:lnTo>
                <a:lnTo>
                  <a:pt x="0" y="2190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621345">
            <a:off x="1559474" y="7949272"/>
            <a:ext cx="361173" cy="886192"/>
            <a:chOff x="0" y="0"/>
            <a:chExt cx="95124" cy="2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124" cy="233400"/>
            </a:xfrm>
            <a:custGeom>
              <a:avLst/>
              <a:gdLst/>
              <a:ahLst/>
              <a:cxnLst/>
              <a:rect r="r" b="b" t="t" l="l"/>
              <a:pathLst>
                <a:path h="233400" w="95124">
                  <a:moveTo>
                    <a:pt x="0" y="0"/>
                  </a:moveTo>
                  <a:lnTo>
                    <a:pt x="95124" y="0"/>
                  </a:lnTo>
                  <a:lnTo>
                    <a:pt x="95124" y="233400"/>
                  </a:lnTo>
                  <a:lnTo>
                    <a:pt x="0" y="233400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124" cy="24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26591">
            <a:off x="1414967" y="8394279"/>
            <a:ext cx="195053" cy="619159"/>
            <a:chOff x="0" y="0"/>
            <a:chExt cx="51372" cy="16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72" cy="163071"/>
            </a:xfrm>
            <a:custGeom>
              <a:avLst/>
              <a:gdLst/>
              <a:ahLst/>
              <a:cxnLst/>
              <a:rect r="r" b="b" t="t" l="l"/>
              <a:pathLst>
                <a:path h="163071" w="51372">
                  <a:moveTo>
                    <a:pt x="0" y="0"/>
                  </a:moveTo>
                  <a:lnTo>
                    <a:pt x="51372" y="0"/>
                  </a:lnTo>
                  <a:lnTo>
                    <a:pt x="51372" y="163071"/>
                  </a:lnTo>
                  <a:lnTo>
                    <a:pt x="0" y="163071"/>
                  </a:lnTo>
                  <a:close/>
                </a:path>
              </a:pathLst>
            </a:custGeom>
            <a:solidFill>
              <a:srgbClr val="65F74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1372" cy="172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7573897"/>
            <a:ext cx="1268204" cy="1684403"/>
          </a:xfrm>
          <a:custGeom>
            <a:avLst/>
            <a:gdLst/>
            <a:ahLst/>
            <a:cxnLst/>
            <a:rect r="r" b="b" t="t" l="l"/>
            <a:pathLst>
              <a:path h="1684403" w="1268204">
                <a:moveTo>
                  <a:pt x="0" y="0"/>
                </a:moveTo>
                <a:lnTo>
                  <a:pt x="1268204" y="0"/>
                </a:lnTo>
                <a:lnTo>
                  <a:pt x="1268204" y="1684403"/>
                </a:lnTo>
                <a:lnTo>
                  <a:pt x="0" y="1684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7" t="-15919" r="-7688" b="-317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96904" y="7776417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APPARENT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6904" y="8330373"/>
            <a:ext cx="2171247" cy="61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39">
                <a:solidFill>
                  <a:srgbClr val="65F7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378867"/>
            <a:ext cx="15614867" cy="230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✅ SLIDE 10 —</a:t>
            </a: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Novel Load Forecasting Strategy (Hybrid Real-Time + Economic Awareness) (ANURAG)</a:t>
            </a:r>
          </a:p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801" spc="-15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</a:t>
            </a:r>
          </a:p>
          <a:p>
            <a:pPr algn="ctr">
              <a:lnSpc>
                <a:spcPts val="4561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1694464"/>
            <a:ext cx="14121082" cy="1189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Load Forecasting: Hybrid Intelligence (Weather + Economics + Behavior Memory)</a:t>
            </a:r>
          </a:p>
          <a:p>
            <a:pPr algn="ctr">
              <a:lnSpc>
                <a:spcPts val="2400"/>
              </a:lnSpc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Slide Content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Pr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oposed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Load F</a:t>
            </a: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orecasting System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forecast grid demand using: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 weather + environmental factors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onomic proxies (GDP, price, per-capita usage) ✅ bonus feature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Public event indicator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Historical load behavior patterns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Time-series intelligence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Model Choice: XGBoost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hy XGBoost?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Handles mixed feature types well (time + numeric + economic)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Learns non-linear relationships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Fast inf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erence → deployable system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Outputs Supported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15-min ahead forecast (mandatory)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scalable extension to day-ahead forecasting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mau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✅ What to Speak (Long Script)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“Now for load for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ecasting, the challenge is very different from renewables.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Load is not driven purely by weather.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Yes, temperature and humidity matter because air-conditioning load changes.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But load also depends on human and economic behavior: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industries running, population lifestyle, electricity pricing, and economic activity.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That’s why we propose a hybrid intelligent load forecasting system.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 combines: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environmental conditions,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economic indicators like GDP, per-capita usage and electricity price,</a:t>
            </a:r>
          </a:p>
          <a:p>
            <a:pPr algn="ctr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and tim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e-s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eries behavior memory.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Now why XGBoost for load?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Because load forecasting has structured, engineered features.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It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r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equires fast inference and strong non-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line</a:t>
            </a: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 learning.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XGBoost becomes highly accurate and lightweight—so it fits the cost-optimized expectation.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8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We mainly output 15-minute forecasts which is mandatory in the problem statement, and we can extend to day-ahead forecasts as a sample.”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DAG_Ty4ilds</dc:identifier>
  <dcterms:modified xsi:type="dcterms:W3CDTF">2011-08-01T06:04:30Z</dcterms:modified>
  <cp:revision>1</cp:revision>
  <dc:title>Blue and White Modern Nuclear Energy Presentation</dc:title>
</cp:coreProperties>
</file>